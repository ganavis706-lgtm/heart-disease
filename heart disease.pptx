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956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22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400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64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81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221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44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79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352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87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091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498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735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02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869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231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973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ECD4852-E931-4A39-A3CD-1359183BBD3C}" type="datetimeFigureOut">
              <a:rPr lang="en-IN" smtClean="0"/>
              <a:t>02-04-2026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088CE09-A05B-461B-A91C-0E92F1449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741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62B2DF-A9DA-4615-5EDE-C45D2BBAA7DC}"/>
              </a:ext>
            </a:extLst>
          </p:cNvPr>
          <p:cNvSpPr txBox="1"/>
          <p:nvPr/>
        </p:nvSpPr>
        <p:spPr>
          <a:xfrm>
            <a:off x="3067664" y="2330245"/>
            <a:ext cx="6754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Berlin Sans FB Demi" panose="020E0802020502020306" pitchFamily="34" charset="0"/>
              </a:rPr>
              <a:t>HEART DISEASE  AND TREATMENT DASHBOARD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033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556B2E-5A47-B608-9F82-6751AC70A590}"/>
              </a:ext>
            </a:extLst>
          </p:cNvPr>
          <p:cNvSpPr txBox="1"/>
          <p:nvPr/>
        </p:nvSpPr>
        <p:spPr>
          <a:xfrm>
            <a:off x="1327355" y="89473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CARDS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C3205-F48A-0F2D-96D7-89B117FD8631}"/>
              </a:ext>
            </a:extLst>
          </p:cNvPr>
          <p:cNvSpPr txBox="1"/>
          <p:nvPr/>
        </p:nvSpPr>
        <p:spPr>
          <a:xfrm>
            <a:off x="1238865" y="1691148"/>
            <a:ext cx="52466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 blood pressure – 1.05M</a:t>
            </a:r>
          </a:p>
          <a:p>
            <a:r>
              <a:rPr lang="en-US" dirty="0"/>
              <a:t>     Total blood pressure values across all records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Sum of heart disease - 5007</a:t>
            </a:r>
          </a:p>
          <a:p>
            <a:r>
              <a:rPr lang="en-US" dirty="0"/>
              <a:t>      Total number of recorded heart disease cases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Sum of BMI(Body Mass Index) – 214.18K</a:t>
            </a:r>
          </a:p>
          <a:p>
            <a:r>
              <a:rPr lang="en-IN" dirty="0"/>
              <a:t>      Combined body mass index value of all individuals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048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3507E-B495-B4AA-4AE3-847908407F1D}"/>
              </a:ext>
            </a:extLst>
          </p:cNvPr>
          <p:cNvSpPr txBox="1"/>
          <p:nvPr/>
        </p:nvSpPr>
        <p:spPr>
          <a:xfrm>
            <a:off x="1101213" y="1376516"/>
            <a:ext cx="21226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 LIST  SLICER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CCF558-8BD9-3AAE-4699-E4D7AAEAE507}"/>
              </a:ext>
            </a:extLst>
          </p:cNvPr>
          <p:cNvSpPr txBox="1"/>
          <p:nvPr/>
        </p:nvSpPr>
        <p:spPr>
          <a:xfrm>
            <a:off x="1101212" y="2517058"/>
            <a:ext cx="70497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NUMBER OF 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NUMBER OF FEMALE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  * Allows user to fill the entire dashboard with gender</a:t>
            </a:r>
          </a:p>
          <a:p>
            <a:endParaRPr lang="en-US" dirty="0"/>
          </a:p>
          <a:p>
            <a:r>
              <a:rPr lang="en-US" dirty="0"/>
              <a:t>    * Useful for comparing how heart disease varies between males and females</a:t>
            </a:r>
          </a:p>
          <a:p>
            <a:r>
              <a:rPr lang="en-US" dirty="0"/>
              <a:t>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541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215091-23BD-0CD1-E6D5-23AEA376BED7}"/>
              </a:ext>
            </a:extLst>
          </p:cNvPr>
          <p:cNvSpPr txBox="1"/>
          <p:nvPr/>
        </p:nvSpPr>
        <p:spPr>
          <a:xfrm>
            <a:off x="1543665" y="934065"/>
            <a:ext cx="12250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Black" panose="020B0A04020102020204" pitchFamily="34" charset="0"/>
              </a:rPr>
              <a:t>SLICER</a:t>
            </a:r>
            <a:endParaRPr lang="en-IN" sz="2000" dirty="0"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783099-B1A6-91E5-8D8B-896B76AEE370}"/>
              </a:ext>
            </a:extLst>
          </p:cNvPr>
          <p:cNvSpPr txBox="1"/>
          <p:nvPr/>
        </p:nvSpPr>
        <p:spPr>
          <a:xfrm>
            <a:off x="1681316" y="1828800"/>
            <a:ext cx="671068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Treatment date(Record of the entire data)</a:t>
            </a:r>
          </a:p>
          <a:p>
            <a:endParaRPr lang="en-US" dirty="0"/>
          </a:p>
          <a:p>
            <a:r>
              <a:rPr lang="en-US" dirty="0"/>
              <a:t>From</a:t>
            </a:r>
          </a:p>
          <a:p>
            <a:r>
              <a:rPr lang="en-US" dirty="0"/>
              <a:t>01-01-2018</a:t>
            </a:r>
          </a:p>
          <a:p>
            <a:endParaRPr lang="en-US" dirty="0"/>
          </a:p>
          <a:p>
            <a:r>
              <a:rPr lang="en-US" dirty="0"/>
              <a:t>To </a:t>
            </a:r>
          </a:p>
          <a:p>
            <a:r>
              <a:rPr lang="en-US" dirty="0"/>
              <a:t>30-12-2023</a:t>
            </a:r>
          </a:p>
          <a:p>
            <a:endParaRPr lang="en-US" dirty="0"/>
          </a:p>
          <a:p>
            <a:r>
              <a:rPr lang="en-US" dirty="0"/>
              <a:t>* Filters data based on treatment date . Helps analyze trends over time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63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0F94F3-195A-0A9A-CABD-6A05D223A3FA}"/>
              </a:ext>
            </a:extLst>
          </p:cNvPr>
          <p:cNvSpPr txBox="1"/>
          <p:nvPr/>
        </p:nvSpPr>
        <p:spPr>
          <a:xfrm>
            <a:off x="1976284" y="1484671"/>
            <a:ext cx="4876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LINE AND STACKED COLUMN CHART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0CB736-0FF7-CBE0-FA2D-A56A1A229D88}"/>
              </a:ext>
            </a:extLst>
          </p:cNvPr>
          <p:cNvSpPr txBox="1"/>
          <p:nvPr/>
        </p:nvSpPr>
        <p:spPr>
          <a:xfrm>
            <a:off x="1789471" y="2428568"/>
            <a:ext cx="723525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Count of treatment by state:</a:t>
            </a:r>
          </a:p>
          <a:p>
            <a:endParaRPr lang="en-US" dirty="0"/>
          </a:p>
          <a:p>
            <a:r>
              <a:rPr lang="en-US" dirty="0"/>
              <a:t>Name of the country and count of treatment</a:t>
            </a:r>
          </a:p>
          <a:p>
            <a:endParaRPr lang="en-US" dirty="0"/>
          </a:p>
          <a:p>
            <a:r>
              <a:rPr lang="en-US" dirty="0"/>
              <a:t>As the heart disease rate increases the count of treatment rate also increases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0070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C05BE0-8703-63FD-B213-53FE3A527706}"/>
              </a:ext>
            </a:extLst>
          </p:cNvPr>
          <p:cNvSpPr txBox="1"/>
          <p:nvPr/>
        </p:nvSpPr>
        <p:spPr>
          <a:xfrm>
            <a:off x="2399071" y="1435510"/>
            <a:ext cx="1759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LINE CHART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0A28D5-D71A-F0AF-3665-9E8507CD5554}"/>
              </a:ext>
            </a:extLst>
          </p:cNvPr>
          <p:cNvSpPr txBox="1"/>
          <p:nvPr/>
        </p:nvSpPr>
        <p:spPr>
          <a:xfrm>
            <a:off x="2035277" y="2290916"/>
            <a:ext cx="609602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Sum of heart disease by age</a:t>
            </a:r>
          </a:p>
          <a:p>
            <a:endParaRPr lang="en-US" u="sng" dirty="0"/>
          </a:p>
          <a:p>
            <a:pPr marL="400050" indent="-400050">
              <a:buFont typeface="+mj-lt"/>
              <a:buAutoNum type="romanLcPeriod"/>
            </a:pPr>
            <a:r>
              <a:rPr lang="en-IN" dirty="0"/>
              <a:t>Shows how heart disease cases vary across different ages    </a:t>
            </a:r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r>
              <a:rPr lang="en-IN" dirty="0"/>
              <a:t> Fluctuating pattern with peaks and dips</a:t>
            </a:r>
          </a:p>
          <a:p>
            <a:pPr marL="400050" indent="-400050">
              <a:buFont typeface="+mj-lt"/>
              <a:buAutoNum type="romanLcPeriod"/>
            </a:pPr>
            <a:endParaRPr lang="en-IN" dirty="0"/>
          </a:p>
          <a:p>
            <a:pPr marL="400050" indent="-400050">
              <a:buFont typeface="+mj-lt"/>
              <a:buAutoNum type="romanLcPeriod"/>
            </a:pPr>
            <a:r>
              <a:rPr lang="en-IN" dirty="0"/>
              <a:t>Helps to identify age group with higher risk</a:t>
            </a:r>
          </a:p>
        </p:txBody>
      </p:sp>
    </p:spTree>
    <p:extLst>
      <p:ext uri="{BB962C8B-B14F-4D97-AF65-F5344CB8AC3E}">
        <p14:creationId xmlns:p14="http://schemas.microsoft.com/office/powerpoint/2010/main" val="551690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009A21-9AAC-3ABF-C1A8-6D2AF6BF4EC3}"/>
              </a:ext>
            </a:extLst>
          </p:cNvPr>
          <p:cNvSpPr txBox="1"/>
          <p:nvPr/>
        </p:nvSpPr>
        <p:spPr>
          <a:xfrm>
            <a:off x="1189703" y="1071716"/>
            <a:ext cx="777731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PIE CHART</a:t>
            </a:r>
          </a:p>
          <a:p>
            <a:endParaRPr lang="en-US" dirty="0">
              <a:latin typeface="Arial Black" panose="020B0A04020102020204" pitchFamily="34" charset="0"/>
            </a:endParaRPr>
          </a:p>
          <a:p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>
                <a:cs typeface="Arial" panose="020B0604020202020204" pitchFamily="34" charset="0"/>
              </a:rPr>
              <a:t>Blood pressure (31.5 %)</a:t>
            </a:r>
          </a:p>
          <a:p>
            <a:endParaRPr lang="en-IN" dirty="0">
              <a:cs typeface="Arial" panose="020B0604020202020204" pitchFamily="34" charset="0"/>
            </a:endParaRPr>
          </a:p>
          <a:p>
            <a:r>
              <a:rPr lang="en-IN" dirty="0">
                <a:cs typeface="Arial" panose="020B0604020202020204" pitchFamily="34" charset="0"/>
              </a:rPr>
              <a:t>BMI (6.44%)</a:t>
            </a:r>
          </a:p>
          <a:p>
            <a:endParaRPr lang="en-IN" dirty="0">
              <a:cs typeface="Arial" panose="020B0604020202020204" pitchFamily="34" charset="0"/>
            </a:endParaRPr>
          </a:p>
          <a:p>
            <a:r>
              <a:rPr lang="en-IN" dirty="0">
                <a:cs typeface="Arial" panose="020B0604020202020204" pitchFamily="34" charset="0"/>
              </a:rPr>
              <a:t>CHOLESTROL (62%)</a:t>
            </a:r>
          </a:p>
          <a:p>
            <a:endParaRPr lang="en-IN" dirty="0">
              <a:cs typeface="Arial" panose="020B0604020202020204" pitchFamily="34" charset="0"/>
            </a:endParaRPr>
          </a:p>
          <a:p>
            <a:r>
              <a:rPr lang="en-IN" dirty="0">
                <a:cs typeface="Arial" panose="020B0604020202020204" pitchFamily="34" charset="0"/>
              </a:rPr>
              <a:t>Indicates the relative impact or distribution of these three health indicators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863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215DC6-A2F8-C7F1-EE34-02134DCA3210}"/>
              </a:ext>
            </a:extLst>
          </p:cNvPr>
          <p:cNvSpPr txBox="1"/>
          <p:nvPr/>
        </p:nvSpPr>
        <p:spPr>
          <a:xfrm>
            <a:off x="1700981" y="1465006"/>
            <a:ext cx="709213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CONCLUSION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Cholesterol values are significantly higher than BMI and blood pressure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Heart disease cases vary with age but don’t follow a simple linear trend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Treatments are evenly distributed geographically by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Filters(gender and date) allow deeper, customized analysis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540989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224</TotalTime>
  <Words>250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Algerian</vt:lpstr>
      <vt:lpstr>Arial</vt:lpstr>
      <vt:lpstr>Arial Black</vt:lpstr>
      <vt:lpstr>Berlin Sans FB Demi</vt:lpstr>
      <vt:lpstr>Tw Cen MT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Ganavi S</dc:creator>
  <cp:lastModifiedBy>Ganavi S</cp:lastModifiedBy>
  <cp:revision>3</cp:revision>
  <dcterms:created xsi:type="dcterms:W3CDTF">2026-03-31T04:48:38Z</dcterms:created>
  <dcterms:modified xsi:type="dcterms:W3CDTF">2026-04-02T17:04:19Z</dcterms:modified>
</cp:coreProperties>
</file>